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75585" y="1828800"/>
            <a:ext cx="6301790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C365D"/>
                </a:solidFill>
              </a:defRPr>
            </a:pPr>
            <a:r>
              <a:rPr dirty="0"/>
              <a:t>Therac-25 Engineering Ethics Case</a:t>
            </a:r>
          </a:p>
          <a:p>
            <a:pPr algn="ctr">
              <a:defRPr sz="2000">
                <a:solidFill>
                  <a:srgbClr val="376FAA"/>
                </a:solidFill>
              </a:defRPr>
            </a:pPr>
            <a:r>
              <a:rPr dirty="0"/>
              <a:t>ENGR 696 Ethics Oral Report (3–5 minutes)</a:t>
            </a:r>
          </a:p>
          <a:p>
            <a:pPr algn="ctr">
              <a:defRPr sz="1600"/>
            </a:pPr>
            <a:r>
              <a:rPr dirty="0"/>
              <a:t>Joe Le | </a:t>
            </a:r>
            <a:r>
              <a:rPr lang="en-US" dirty="0"/>
              <a:t>ENGR696</a:t>
            </a:r>
            <a:r>
              <a:rPr dirty="0"/>
              <a:t>| SFSU |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Happened?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Therac-25: a computer-controlled radiation therapy machine from the 1980s.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Six known accidents between 1985–1987, each a massive radiation overdose.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Investigations found failures in software, system design, testing, interface, and organization — not just one bug.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One Ethics Issue: Public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IEEE Code of Ethics: public safety, health, and welfare come first.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Evidence of a serious malfunction should trigger containment and investigation — not the assumption that “the software can't be at fault.”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Safety-critical claims need evidence and independent protection behind them, not just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Causes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Too much reliance on software; too few independent hardware interlocks.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Race conditions, unsafe state transitions, confusing operator feedback.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Weak hazard analysis, integration testing, and incident response.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Fix: independent interlocks, fail-safe defaults, real hazard analysis, fault injection, clear alarms, traceable verification, and fast response to field incidents.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Lesson for OSBAMS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Battery testing controls hazardous stored energy too.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Keep the hardwired E-stop and normally-off contactor independent of the normal software path.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Use a watchdog, latched faults, redundant sensing, staged low-voltage validation, and documented acceptance criteria.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E1E1E"/>
                </a:solidFill>
              </a:defRPr>
            </a:pPr>
            <a:r>
              <a:rPr dirty="0"/>
              <a:t>Never connect the battery while the system is in an unexplained fault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C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Leveson, N. G., &amp; Turner, C. S. (1993). An Investigation of the Therac-25 Accidents. IEEE Computer, 26(7), 18–41.</a:t>
            </a:r>
            <a:br>
              <a:rPr dirty="0"/>
            </a:br>
            <a:r>
              <a:rPr dirty="0"/>
              <a:t>https://</a:t>
            </a:r>
            <a:r>
              <a:rPr dirty="0" err="1"/>
              <a:t>www.cse.msu.edu</a:t>
            </a:r>
            <a:r>
              <a:rPr dirty="0"/>
              <a:t>/~cse470/Public/Handouts/</a:t>
            </a:r>
            <a:r>
              <a:rPr dirty="0" err="1"/>
              <a:t>Therac</a:t>
            </a:r>
            <a:r>
              <a:rPr dirty="0"/>
              <a:t>/Therac_1.html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IEEE. Code of Ethics (revisions adopted June 2020).</a:t>
            </a:r>
            <a:br>
              <a:rPr dirty="0"/>
            </a:br>
            <a:r>
              <a:rPr dirty="0"/>
              <a:t>https://</a:t>
            </a:r>
            <a:r>
              <a:t>ieee-cas.org</a:t>
            </a:r>
            <a:r>
              <a:rPr dirty="0"/>
              <a:t>/about/</a:t>
            </a:r>
            <a:r>
              <a:rPr dirty="0" err="1"/>
              <a:t>ieee</a:t>
            </a:r>
            <a:r>
              <a:rPr dirty="0"/>
              <a:t>-code-ethics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</a:defRPr>
            </a:pPr>
            <a:r>
              <a:rPr dirty="0"/>
              <a:t>Ethics Unwrapped, The University of Texas at Austin. Therac-25 case study.</a:t>
            </a:r>
            <a:br>
              <a:rPr dirty="0"/>
            </a:br>
            <a:r>
              <a:rPr dirty="0"/>
              <a:t>https://</a:t>
            </a:r>
            <a:r>
              <a:rPr dirty="0" err="1"/>
              <a:t>ethicsunwrapped.utexas.edu</a:t>
            </a:r>
            <a:r>
              <a:rPr dirty="0"/>
              <a:t>/case-study/therac-25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352</Words>
  <Application>Microsoft Macintosh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Joe Le</cp:lastModifiedBy>
  <cp:revision>2</cp:revision>
  <dcterms:created xsi:type="dcterms:W3CDTF">2013-01-27T09:14:16Z</dcterms:created>
  <dcterms:modified xsi:type="dcterms:W3CDTF">2026-08-23T05:02:59Z</dcterms:modified>
  <cp:category/>
</cp:coreProperties>
</file>